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512BD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00BF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94360"/>
            <a:ext cx="685800" cy="68580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7665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21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 •  ASP.NET CORE MVC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 in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MVC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41605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complete Create – Read – Update – Delete workflow with Entity Framework Core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94360" y="5074920"/>
            <a:ext cx="5852160" cy="0"/>
          </a:xfrm>
          <a:prstGeom prst="line">
            <a:avLst/>
          </a:prstGeom>
          <a:noFill/>
          <a:ln w="12700">
            <a:solidFill>
              <a:srgbClr val="3C2E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 Session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5559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Vansh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10512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records manager — full CRUD in one demo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80944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9626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32826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EF Core and SQL Server working together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151376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1330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4453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ASP.NET Core 9 MVC project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02936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321808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53035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17320" y="5623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Student entity with annotations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810512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17922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Database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40880" y="2112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model into a real SQL Server table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86207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980944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29626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CRUD Views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40880" y="32826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Index, Create, Edit, Details, Delete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03250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151376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40880" y="41330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0880" y="4453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navigation and running the full workflow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5202936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AFAFD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5321808"/>
            <a:ext cx="685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040880" y="53035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Considerations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040880" y="5623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a real-world project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APP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Records Manager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entity, four operations — the complete lifecycle of a record, built end-to-end.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72" y="2514600"/>
            <a:ext cx="658368" cy="658368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8" name="Image 0" descr="icons/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476" y="2593604"/>
            <a:ext cx="500360" cy="50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832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388620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student with name, email, course &amp; enrollment date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4288536" y="2514600"/>
            <a:ext cx="658368" cy="658368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3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540" y="2593604"/>
            <a:ext cx="500360" cy="500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33832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602736" y="388620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list, or drill into one record's details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44768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086600" y="251460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604" y="2593604"/>
            <a:ext cx="500360" cy="500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1928" y="33832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400800" y="388620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field on an existing student and save changes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942832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22" name="Shape 17"/>
          <p:cNvSpPr/>
          <p:nvPr/>
        </p:nvSpPr>
        <p:spPr>
          <a:xfrm>
            <a:off x="9884664" y="2514600"/>
            <a:ext cx="658368" cy="658368"/>
          </a:xfrm>
          <a:prstGeom prst="ellipse">
            <a:avLst/>
          </a:prstGeom>
          <a:solidFill>
            <a:srgbClr val="E0507A"/>
          </a:solidFill>
          <a:ln/>
        </p:spPr>
      </p:sp>
      <p:pic>
        <p:nvPicPr>
          <p:cNvPr id="23" name="Image 3" descr="icons/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668" y="2593604"/>
            <a:ext cx="500360" cy="500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79992" y="33832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9198864" y="388620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remove a record — gone from the database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317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1E1442"/>
          </a:solidFill>
          <a:ln/>
        </p:spPr>
      </p:sp>
      <p:sp>
        <p:nvSpPr>
          <p:cNvPr id="6" name="Shape 4"/>
          <p:cNvSpPr/>
          <p:nvPr/>
        </p:nvSpPr>
        <p:spPr>
          <a:xfrm>
            <a:off x="1540764" y="25877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379" y="2662367"/>
            <a:ext cx="472562" cy="472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32918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5528" y="365760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/ Create / Edit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Delete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44952" y="3017520"/>
            <a:ext cx="448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20440" y="23317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512BD4"/>
          </a:solidFill>
          <a:ln/>
        </p:spPr>
      </p:sp>
      <p:sp>
        <p:nvSpPr>
          <p:cNvPr id="12" name="Shape 9"/>
          <p:cNvSpPr/>
          <p:nvPr/>
        </p:nvSpPr>
        <p:spPr>
          <a:xfrm>
            <a:off x="4375404" y="25877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19" y="2662367"/>
            <a:ext cx="472562" cy="4725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32918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30168" y="365760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79592" y="3017520"/>
            <a:ext cx="448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55080" y="23317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1E1442"/>
          </a:solidFill>
          <a:ln/>
        </p:spPr>
      </p:sp>
      <p:sp>
        <p:nvSpPr>
          <p:cNvPr id="18" name="Shape 14"/>
          <p:cNvSpPr/>
          <p:nvPr/>
        </p:nvSpPr>
        <p:spPr>
          <a:xfrm>
            <a:off x="7210044" y="25877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659" y="2662367"/>
            <a:ext cx="472562" cy="4725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32918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DbContext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64808" y="365760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ApplicationDbContext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DbSet&lt;Student&gt;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14232" y="3017520"/>
            <a:ext cx="448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189720" y="23317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512BD4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44684" y="25877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299" y="2662367"/>
            <a:ext cx="472562" cy="4725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99448" y="32918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99448" y="365760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ASPNETCoreCRUDDB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5800" y="470916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render HTML  •  Controller orchestrates requests  •  DbContext maps objects to rows  •  SQL Server persists data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1E14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12B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865376" y="3200400"/>
            <a:ext cx="658368" cy="658368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8" name="Image 0" descr="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380" y="3279404"/>
            <a:ext cx="500360" cy="50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23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ASP.NET Core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(MVC)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.NET 9 — the latest version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365760" cy="365760"/>
          </a:xfrm>
          <a:prstGeom prst="ellipse">
            <a:avLst/>
          </a:prstGeom>
          <a:solidFill>
            <a:srgbClr val="F5F4FB"/>
          </a:solidFill>
          <a:ln w="15875">
            <a:solidFill>
              <a:srgbClr val="512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728216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Visual Studio 2022 and choose Create a new project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51960" y="2532888"/>
            <a:ext cx="365760" cy="365760"/>
          </a:xfrm>
          <a:prstGeom prst="ellipse">
            <a:avLst/>
          </a:prstGeom>
          <a:solidFill>
            <a:srgbClr val="F5F4FB"/>
          </a:solidFill>
          <a:ln w="15875">
            <a:solidFill>
              <a:srgbClr val="512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00600" y="2478024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“ASP.NET Core Web App (Model-View-Controller)” template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51960" y="3282696"/>
            <a:ext cx="365760" cy="365760"/>
          </a:xfrm>
          <a:prstGeom prst="ellipse">
            <a:avLst/>
          </a:prstGeom>
          <a:solidFill>
            <a:srgbClr val="F5F4FB"/>
          </a:solidFill>
          <a:ln w="15875">
            <a:solidFill>
              <a:srgbClr val="512B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5196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0600" y="3227832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project location and name it (e.g. ASP.NET Core CRUD Demo)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51960" y="4032504"/>
            <a:ext cx="365760" cy="365760"/>
          </a:xfrm>
          <a:prstGeom prst="ellipse">
            <a:avLst/>
          </a:prstGeom>
          <a:solidFill>
            <a:srgbClr val="F5F4FB"/>
          </a:solidFill>
          <a:ln w="15875">
            <a:solidFill>
              <a:srgbClr val="512B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196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00600" y="3977640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target framework to .NET 9.0 instead of the .NET 8 default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51960" y="4782312"/>
            <a:ext cx="365760" cy="365760"/>
          </a:xfrm>
          <a:prstGeom prst="ellipse">
            <a:avLst/>
          </a:prstGeom>
          <a:solidFill>
            <a:srgbClr val="F5F4FB"/>
          </a:solidFill>
          <a:ln w="15875">
            <a:solidFill>
              <a:srgbClr val="512B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51960" y="4782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4727448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— Visual Studio scaffolds the default file &amp; folder structure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Student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126480" cy="4297680"/>
          </a:xfrm>
          <a:prstGeom prst="roundRect">
            <a:avLst>
              <a:gd name="adj" fmla="val 1702"/>
            </a:avLst>
          </a:prstGeom>
          <a:solidFill>
            <a:srgbClr val="150F3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92808"/>
            <a:ext cx="128016" cy="128016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92808"/>
            <a:ext cx="128016" cy="128016"/>
          </a:xfrm>
          <a:prstGeom prst="ellipse">
            <a:avLst/>
          </a:prstGeom>
          <a:solidFill>
            <a:srgbClr val="E5B800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892808"/>
            <a:ext cx="128016" cy="12801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[Key]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[Display(Name = "Student ID")]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StudentId { get; set;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[Required]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[Display(Name = "Student Name")]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 { get; set;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Email { get; set;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Course { get; set;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DateTime EnrollmentDate { get; set;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037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annotations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148840"/>
            <a:ext cx="457200" cy="45720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2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584" y="220370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2130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[Key]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2404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StudentId as the primary key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03720" y="3044952"/>
            <a:ext cx="457200" cy="45720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3099816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3026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[Required]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498080" y="33009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value — Name can’t be blank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903720" y="3941064"/>
            <a:ext cx="457200" cy="45720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20" name="Image 2" descr="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39959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0" y="39227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[Display(Name = …)]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98080" y="4197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labels, e.g. “Student Name” in the UI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03720" y="4910328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5F4FB"/>
          </a:solidFill>
          <a:ln/>
        </p:spPr>
      </p:sp>
      <p:sp>
        <p:nvSpPr>
          <p:cNvPr id="24" name="Text 19"/>
          <p:cNvSpPr/>
          <p:nvPr/>
        </p:nvSpPr>
        <p:spPr>
          <a:xfrm>
            <a:off x="7086600" y="5020056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 in total: StudentId, Name, Email, Course and EnrollmentDate — this becomes the Students table.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EF Core NuGet Packages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project → Manage NuGet Packages → Browse, or use the Package Manager Console.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1E1442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2468880"/>
            <a:ext cx="585216" cy="585216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8" name="Image 0" descr="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274" y="2539106"/>
            <a:ext cx="444764" cy="444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4612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EF Core engine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46704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4325112" y="246888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338" y="2539106"/>
            <a:ext cx="444764" cy="444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8144" y="324612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.SqlServer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29584" y="42976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 provider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44768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23176" y="246888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8" name="Image 2" descr="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402" y="2539106"/>
            <a:ext cx="444764" cy="4447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324612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FrameworkCore.Tools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27648" y="42976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Add-Migration &amp; Update-Database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42832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5F4FB"/>
          </a:solidFill>
          <a:ln/>
        </p:spPr>
      </p:sp>
      <p:sp>
        <p:nvSpPr>
          <p:cNvPr id="22" name="Shape 17"/>
          <p:cNvSpPr/>
          <p:nvPr/>
        </p:nvSpPr>
        <p:spPr>
          <a:xfrm>
            <a:off x="9921240" y="246888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23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1466" y="2539106"/>
            <a:ext cx="444764" cy="4447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34272" y="324612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FrameworkCore.Design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125712" y="42976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Design-time services for scaffolding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DbContext &amp; Connection String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50F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ApplicationDbContext.cs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ApplicationDbContext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DbContext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ApplicationDbContext(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DbContextOptions&lt;ApplicationDbContext&gt;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options) : base(options) {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DbSet&lt;Student&gt; Students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get; set; 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4F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builder.Services.AddDbContext&lt;ApplicationDbContext&gt;(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options =&gt; options.UseSqlServer(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builder.Configuration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.GetConnectionString("DefaultConnection")));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"ConnectionStrings":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"DefaultConnection":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"Server=...;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Database=ASPNETCoreCRUDDB;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Trusted_Connection=True;"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Migrations to Build the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E144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48256"/>
            <a:ext cx="603504" cy="603504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7" name="Image 0" descr="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60" y="2120676"/>
            <a:ext cx="458663" cy="4586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Add-Migration Initial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2677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migration script from the Student model &amp; DbContext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218688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E1442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529584"/>
            <a:ext cx="603504" cy="603504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2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60" y="3602004"/>
            <a:ext cx="458663" cy="4586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355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Update-Database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7490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script and creates the database in SQL Server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949440" y="17373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F5F4FB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7804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Students table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178040" y="242316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0" y="2496312"/>
            <a:ext cx="384048" cy="384048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9" name="Image 2" descr="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286" y="2542398"/>
            <a:ext cx="291876" cy="2918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18120" y="242316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StudentId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178040" y="3081528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0" y="315468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3" descr="icons/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286" y="3200766"/>
            <a:ext cx="291876" cy="2918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18120" y="30815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178040" y="3739896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0" y="381304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7" name="Image 4" descr="icons/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286" y="3859134"/>
            <a:ext cx="291876" cy="2918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18120" y="373989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178040" y="439826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315200" y="447141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5" descr="icons/t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1286" y="4517502"/>
            <a:ext cx="291876" cy="2918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18120" y="439826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178040" y="505663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0F5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315200" y="5129784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5" name="Image 6" descr="icons/ta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1286" y="5175870"/>
            <a:ext cx="291876" cy="29187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818120" y="50566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EnrollmentDate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the Controller &amp;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Add → New Scaffolded Item → “MVC Controller with views, using Entity Framework” — pick the Student model &amp; ApplicationDbContext.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48256" cy="3200400"/>
          </a:xfrm>
          <a:prstGeom prst="roundRect">
            <a:avLst>
              <a:gd name="adj" fmla="val 4464"/>
            </a:avLst>
          </a:prstGeom>
          <a:solidFill>
            <a:srgbClr val="F5F4F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65176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8" name="Image 0" descr="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386" y="2721986"/>
            <a:ext cx="444764" cy="444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Index.cshtml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student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79776" y="2331720"/>
            <a:ext cx="2048256" cy="3200400"/>
          </a:xfrm>
          <a:prstGeom prst="roundRect">
            <a:avLst>
              <a:gd name="adj" fmla="val 4464"/>
            </a:avLst>
          </a:prstGeom>
          <a:solidFill>
            <a:srgbClr val="F5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3511296" y="265176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3" name="Image 1" descr="icons/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22" y="2721986"/>
            <a:ext cx="444764" cy="444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Create.cshtml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16936" y="40233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 add a record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10912" y="2331720"/>
            <a:ext cx="2048256" cy="3200400"/>
          </a:xfrm>
          <a:prstGeom prst="roundRect">
            <a:avLst>
              <a:gd name="adj" fmla="val 4464"/>
            </a:avLst>
          </a:prstGeom>
          <a:solidFill>
            <a:srgbClr val="F5F4FB"/>
          </a:solidFill>
          <a:ln/>
        </p:spPr>
      </p:sp>
      <p:sp>
        <p:nvSpPr>
          <p:cNvPr id="17" name="Shape 13"/>
          <p:cNvSpPr/>
          <p:nvPr/>
        </p:nvSpPr>
        <p:spPr>
          <a:xfrm>
            <a:off x="5742432" y="265176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8" name="Image 2" descr="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658" y="2721986"/>
            <a:ext cx="444764" cy="4447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Edit.cshtml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48072" y="40233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 existing record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242048" y="2331720"/>
            <a:ext cx="2048256" cy="3200400"/>
          </a:xfrm>
          <a:prstGeom prst="roundRect">
            <a:avLst>
              <a:gd name="adj" fmla="val 4464"/>
            </a:avLst>
          </a:prstGeom>
          <a:solidFill>
            <a:srgbClr val="F5F4FB"/>
          </a:solidFill>
          <a:ln/>
        </p:spPr>
      </p:sp>
      <p:sp>
        <p:nvSpPr>
          <p:cNvPr id="22" name="Shape 17"/>
          <p:cNvSpPr/>
          <p:nvPr/>
        </p:nvSpPr>
        <p:spPr>
          <a:xfrm>
            <a:off x="7973568" y="265176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23" name="Image 3" descr="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794" y="2721986"/>
            <a:ext cx="444764" cy="4447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51776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Details.cshtml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79208" y="40233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single view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473184" y="2331720"/>
            <a:ext cx="2048256" cy="3200400"/>
          </a:xfrm>
          <a:prstGeom prst="roundRect">
            <a:avLst>
              <a:gd name="adj" fmla="val 4464"/>
            </a:avLst>
          </a:prstGeom>
          <a:solidFill>
            <a:srgbClr val="F5F4FB"/>
          </a:solidFill>
          <a:ln/>
        </p:spPr>
      </p:sp>
      <p:sp>
        <p:nvSpPr>
          <p:cNvPr id="27" name="Shape 21"/>
          <p:cNvSpPr/>
          <p:nvPr/>
        </p:nvSpPr>
        <p:spPr>
          <a:xfrm>
            <a:off x="10204704" y="2651760"/>
            <a:ext cx="585216" cy="585216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28" name="Image 4" descr="icons/tr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930" y="2721986"/>
            <a:ext cx="444764" cy="4447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82912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Delete.cshtml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610344" y="40233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remove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Navigation &amp; Run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“Manage Students” link in _Layout.cshtml (asp-controller="Students", asp-action="Index"), then walk the full CRUD loop.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E1442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578608"/>
            <a:ext cx="621792" cy="62179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8" name="Image 0" descr="icons/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919" y="2653223"/>
            <a:ext cx="472562" cy="472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64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student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32888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25496" y="22860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E1442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2578608"/>
            <a:ext cx="621792" cy="62179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4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615" y="2653223"/>
            <a:ext cx="472562" cy="4725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6936" y="3364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16936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the list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672584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965192" y="22860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E1442"/>
          </a:solidFill>
          <a:ln/>
        </p:spPr>
      </p:sp>
      <p:sp>
        <p:nvSpPr>
          <p:cNvPr id="19" name="Shape 15"/>
          <p:cNvSpPr/>
          <p:nvPr/>
        </p:nvSpPr>
        <p:spPr>
          <a:xfrm>
            <a:off x="5568696" y="2578608"/>
            <a:ext cx="621792" cy="62179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0" name="Image 2" descr="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311" y="2653223"/>
            <a:ext cx="472562" cy="4725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56632" y="3364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56632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field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812280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7104888" y="22860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E1442"/>
          </a:solidFill>
          <a:ln/>
        </p:spPr>
      </p:sp>
      <p:sp>
        <p:nvSpPr>
          <p:cNvPr id="25" name="Shape 20"/>
          <p:cNvSpPr/>
          <p:nvPr/>
        </p:nvSpPr>
        <p:spPr>
          <a:xfrm>
            <a:off x="7708392" y="2578608"/>
            <a:ext cx="621792" cy="62179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6" name="Image 3" descr="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007" y="2653223"/>
            <a:ext cx="472562" cy="4725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96328" y="3364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196328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record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951976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244584" y="22860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E1442"/>
          </a:solidFill>
          <a:ln/>
        </p:spPr>
      </p:sp>
      <p:sp>
        <p:nvSpPr>
          <p:cNvPr id="31" name="Shape 25"/>
          <p:cNvSpPr/>
          <p:nvPr/>
        </p:nvSpPr>
        <p:spPr>
          <a:xfrm>
            <a:off x="9848088" y="2578608"/>
            <a:ext cx="621792" cy="62179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32" name="Image 4" descr="icons/tr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703" y="2653223"/>
            <a:ext cx="472562" cy="4725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36024" y="3364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336024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confirm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85800" y="4892040"/>
            <a:ext cx="10387584" cy="1051560"/>
          </a:xfrm>
          <a:prstGeom prst="roundRect">
            <a:avLst>
              <a:gd name="adj" fmla="val 6957"/>
            </a:avLst>
          </a:prstGeom>
          <a:solidFill>
            <a:srgbClr val="F5F4FB"/>
          </a:solidFill>
          <a:ln/>
        </p:spPr>
      </p:sp>
      <p:sp>
        <p:nvSpPr>
          <p:cNvPr id="36" name="Text 29"/>
          <p:cNvSpPr/>
          <p:nvPr/>
        </p:nvSpPr>
        <p:spPr>
          <a:xfrm>
            <a:off x="914400" y="5029200"/>
            <a:ext cx="99303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was verified straight in SQL Server (SELECT * FROM Students) — the UI and the database stayed in sync at each step.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for Real 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381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walkthrough gives the basic idea — real projects need more 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5F4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8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7" y="23975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04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architecture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6700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a single controller — use layers/services rather than putting everything in the MVC project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1031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5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2331720"/>
            <a:ext cx="548640" cy="54864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3" name="Image 1" descr="icons/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57" y="23975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2304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49440" y="26700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shared UI and logic (forms, validation, pagination) instead of one-off views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5F4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18" name="Image 2" descr="icons/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7" y="440923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relationships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08760" y="468172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models link multiple entities together, not a single flat table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89320" y="411480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5F4FB"/>
          </a:solidFill>
          <a:ln/>
        </p:spPr>
      </p:sp>
      <p:sp>
        <p:nvSpPr>
          <p:cNvPr id="22" name="Shape 17"/>
          <p:cNvSpPr/>
          <p:nvPr/>
        </p:nvSpPr>
        <p:spPr>
          <a:xfrm>
            <a:off x="6217920" y="4343400"/>
            <a:ext cx="548640" cy="54864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23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57" y="440923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43159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0" y="468172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server-side checks and graceful failure paths beyond the basic [Required] demo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ASP.NET Core MVC • EF Core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754880" cy="4754880"/>
          </a:xfrm>
          <a:prstGeom prst="ellipse">
            <a:avLst/>
          </a:prstGeom>
          <a:solidFill>
            <a:srgbClr val="512BD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00BF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9864" y="1554480"/>
            <a:ext cx="822960" cy="822960"/>
          </a:xfrm>
          <a:prstGeom prst="ellipse">
            <a:avLst/>
          </a:prstGeom>
          <a:solidFill>
            <a:srgbClr val="512BD4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619" y="165323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94360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“CRUD Operations in ASP.NET Core MVC using Entity Framework Core” — Manoj Deshwal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2026-09-14T05:01:20Z</dcterms:created>
  <dcterms:modified xsi:type="dcterms:W3CDTF">2026-09-14T05:01:20Z</dcterms:modified>
</cp:coreProperties>
</file>